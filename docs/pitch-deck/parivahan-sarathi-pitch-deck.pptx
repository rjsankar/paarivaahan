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b0c46a17fa4715" /><Relationship Type="http://schemas.openxmlformats.org/officeDocument/2006/relationships/extended-properties" Target="/docProps/app.xml" Id="Rb2dda05481314a37" /><Relationship Type="http://schemas.openxmlformats.org/officeDocument/2006/relationships/officeDocument" Target="/ppt/presentation.xml" Id="R9389fb1b1fca43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5ceca4109d4ae4"/>
  </p:sldMasterIdLst>
  <p:notesMasterIdLst>
    <p:notesMasterId xmlns:r="http://schemas.openxmlformats.org/officeDocument/2006/relationships" r:id="R5d963462474e4a62"/>
  </p:notesMasterIdLst>
  <p:sldIdLst>
    <p:sldId xmlns:r="http://schemas.openxmlformats.org/officeDocument/2006/relationships" id="256" r:id="R15431d7535ec4322"/>
    <p:sldId xmlns:r="http://schemas.openxmlformats.org/officeDocument/2006/relationships" id="257" r:id="R9386070fa9ec432c"/>
    <p:sldId xmlns:r="http://schemas.openxmlformats.org/officeDocument/2006/relationships" id="258" r:id="R58c434a67dfd4e1a"/>
    <p:sldId xmlns:r="http://schemas.openxmlformats.org/officeDocument/2006/relationships" id="259" r:id="R4d14413bdaf44cc6"/>
    <p:sldId xmlns:r="http://schemas.openxmlformats.org/officeDocument/2006/relationships" id="260" r:id="R6d062c6a5d084040"/>
    <p:sldId xmlns:r="http://schemas.openxmlformats.org/officeDocument/2006/relationships" id="261" r:id="Raed21826dc0d4226"/>
    <p:sldId xmlns:r="http://schemas.openxmlformats.org/officeDocument/2006/relationships" id="262" r:id="Rf6be258c5176419a"/>
    <p:sldId xmlns:r="http://schemas.openxmlformats.org/officeDocument/2006/relationships" id="263" r:id="R83028520bfe5495b"/>
    <p:sldId xmlns:r="http://schemas.openxmlformats.org/officeDocument/2006/relationships" id="264" r:id="Rb31294e40d8b46ef"/>
    <p:sldId xmlns:r="http://schemas.openxmlformats.org/officeDocument/2006/relationships" id="265" r:id="R1782f7e92a2944d5"/>
    <p:sldId xmlns:r="http://schemas.openxmlformats.org/officeDocument/2006/relationships" id="266" r:id="Ra7111793073f4c0a"/>
    <p:sldId xmlns:r="http://schemas.openxmlformats.org/officeDocument/2006/relationships" id="267" r:id="R271537a10f234f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3a2ef5d86444d4" /><Relationship Type="http://schemas.openxmlformats.org/officeDocument/2006/relationships/slideMaster" Target="/ppt/slideMasters/slideMaster1.xml" Id="Rf15ceca4109d4ae4" /><Relationship Type="http://schemas.openxmlformats.org/officeDocument/2006/relationships/notesMaster" Target="/ppt/notesMasters/notesMaster1.xml" Id="R5d963462474e4a62" /><Relationship Type="http://schemas.openxmlformats.org/officeDocument/2006/relationships/presProps" Target="/ppt/presProps.xml" Id="R37abe7a287ec4ce0" /><Relationship Type="http://schemas.openxmlformats.org/officeDocument/2006/relationships/tableStyles" Target="/ppt/tableStyles.xml" Id="R119a11f32c204e87" /><Relationship Type="http://schemas.openxmlformats.org/officeDocument/2006/relationships/slide" Target="/ppt/slides/slide1.xml" Id="R15431d7535ec4322" /><Relationship Type="http://schemas.openxmlformats.org/officeDocument/2006/relationships/slide" Target="/ppt/slides/slide2.xml" Id="R9386070fa9ec432c" /><Relationship Type="http://schemas.openxmlformats.org/officeDocument/2006/relationships/slide" Target="/ppt/slides/slide3.xml" Id="R58c434a67dfd4e1a" /><Relationship Type="http://schemas.openxmlformats.org/officeDocument/2006/relationships/slide" Target="/ppt/slides/slide4.xml" Id="R4d14413bdaf44cc6" /><Relationship Type="http://schemas.openxmlformats.org/officeDocument/2006/relationships/slide" Target="/ppt/slides/slide5.xml" Id="R6d062c6a5d084040" /><Relationship Type="http://schemas.openxmlformats.org/officeDocument/2006/relationships/slide" Target="/ppt/slides/slide6.xml" Id="Raed21826dc0d4226" /><Relationship Type="http://schemas.openxmlformats.org/officeDocument/2006/relationships/slide" Target="/ppt/slides/slide7.xml" Id="Rf6be258c5176419a" /><Relationship Type="http://schemas.openxmlformats.org/officeDocument/2006/relationships/slide" Target="/ppt/slides/slide8.xml" Id="R83028520bfe5495b" /><Relationship Type="http://schemas.openxmlformats.org/officeDocument/2006/relationships/slide" Target="/ppt/slides/slide9.xml" Id="Rb31294e40d8b46ef" /><Relationship Type="http://schemas.openxmlformats.org/officeDocument/2006/relationships/slide" Target="/ppt/slides/slide10.xml" Id="R1782f7e92a2944d5" /><Relationship Type="http://schemas.openxmlformats.org/officeDocument/2006/relationships/slide" Target="/ppt/slides/slide11.xml" Id="Ra7111793073f4c0a" /><Relationship Type="http://schemas.openxmlformats.org/officeDocument/2006/relationships/slide" Target="/ppt/slides/slide12.xml" Id="R271537a10f234f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34d9e0a99f41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d5b5c3bc674137" /><Relationship Type="http://schemas.openxmlformats.org/officeDocument/2006/relationships/notesMaster" Target="/ppt/notesMasters/notesMaster1.xml" Id="R878a86b95e0c46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a76f7bac6a4641" /><Relationship Type="http://schemas.openxmlformats.org/officeDocument/2006/relationships/notesMaster" Target="/ppt/notesMasters/notesMaster1.xml" Id="Ra15c02969f3f47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511786efcc4f6e" /><Relationship Type="http://schemas.openxmlformats.org/officeDocument/2006/relationships/notesMaster" Target="/ppt/notesMasters/notesMaster1.xml" Id="R673d5149b0674e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e3c1dfd8134b16" /><Relationship Type="http://schemas.openxmlformats.org/officeDocument/2006/relationships/notesMaster" Target="/ppt/notesMasters/notesMaster1.xml" Id="Rbb11217f793a48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56194ebf5f43e5" /><Relationship Type="http://schemas.openxmlformats.org/officeDocument/2006/relationships/notesMaster" Target="/ppt/notesMasters/notesMaster1.xml" Id="R584317bb6ef243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c8bd592c7341c3" /><Relationship Type="http://schemas.openxmlformats.org/officeDocument/2006/relationships/notesMaster" Target="/ppt/notesMasters/notesMaster1.xml" Id="Rcca31973fb7442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bc4e84c9a54da8" /><Relationship Type="http://schemas.openxmlformats.org/officeDocument/2006/relationships/notesMaster" Target="/ppt/notesMasters/notesMaster1.xml" Id="R709f96ee7c364d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be220252c4412d" /><Relationship Type="http://schemas.openxmlformats.org/officeDocument/2006/relationships/notesMaster" Target="/ppt/notesMasters/notesMaster1.xml" Id="R9bfe5c60894c4b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8a4b77f2794730" /><Relationship Type="http://schemas.openxmlformats.org/officeDocument/2006/relationships/notesMaster" Target="/ppt/notesMasters/notesMaster1.xml" Id="R13a4674b7c0b4d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8a243177464e29" /><Relationship Type="http://schemas.openxmlformats.org/officeDocument/2006/relationships/notesMaster" Target="/ppt/notesMasters/notesMaster1.xml" Id="Rda9dca509d4947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0ec1c16b3b4140" /><Relationship Type="http://schemas.openxmlformats.org/officeDocument/2006/relationships/notesMaster" Target="/ppt/notesMasters/notesMaster1.xml" Id="Rf6ec942019ba45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87f96ddbbb4952" /><Relationship Type="http://schemas.openxmlformats.org/officeDocument/2006/relationships/notesMaster" Target="/ppt/notesMasters/notesMaster1.xml" Id="R7c83979ba2034a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citizen problem, not the feature list. Position Sarathi as a guidance and orchestration layer—not an official replacement.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docs/PRD.md</a:t>
            </a:r>
          </a:p>
          <a:p xmlns:a="http://schemas.openxmlformats.org/drawingml/2006/main">
            <a:r>
              <a:t>- docs/RESEARCH.md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origin honestly: the public services exist, but a novice citizen still has to map intent to portals, forms, prerequisites, and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https://parivahan.gov.in/contactus</a:t>
            </a:r>
          </a:p>
          <a:p xmlns:a="http://schemas.openxmlformats.org/drawingml/2006/main">
            <a:r>
              <a:t>- https://parivahan.gov.in/parivahan/en/content/download-forms</a:t>
            </a:r>
          </a:p>
          <a:p xmlns:a="http://schemas.openxmlformats.org/drawingml/2006/main">
            <a:r>
              <a:t>- docs/RESEARCH.md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fragmentation without attacking official systems. These portals are authoritative; the user burden is the cross-system preparation and interpretation required around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https://parivahan.gov.in/contactus</a:t>
            </a:r>
          </a:p>
          <a:p xmlns:a="http://schemas.openxmlformats.org/drawingml/2006/main">
            <a:r>
              <a:t>- https://sarathi.parivahan.gov.in/</a:t>
            </a:r>
          </a:p>
          <a:p xmlns:a="http://schemas.openxmlformats.org/drawingml/2006/main">
            <a:r>
              <a:t>- docs/RESEARCH.md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product model: one person-centred workspace across licences, vehicles, documents, deadlines, and applications.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docs/PRD.md</a:t>
            </a:r>
          </a:p>
          <a:p xmlns:a="http://schemas.openxmlformats.org/drawingml/2006/main">
            <a:r>
              <a:t>- docs/RESEARCH.md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one complete citizen story: Ravi sees the deadline, understands the steps, and reaches the official service prepared. Do not imply the prototype renews the licence.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docs/PRD.md</a:t>
            </a:r>
          </a:p>
          <a:p xmlns:a="http://schemas.openxmlformats.org/drawingml/2006/main">
            <a:r>
              <a:t>- https://mparivahan.parivahan.gov.in/mstatic/english/dl-info-renewal-dl.html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key redesign: identity begins with a person and optional mobile profile, while vehicles are linked assets. This supports households and multiple vehicles cleanly.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docs/PRD.md</a:t>
            </a:r>
          </a:p>
          <a:p xmlns:a="http://schemas.openxmlformats.org/drawingml/2006/main">
            <a:r>
              <a:t>- docs/adr/0014-person-centred-multi-vehicle-profile.md</a:t>
            </a:r>
          </a:p>
          <a:p xmlns:a="http://schemas.openxmlformats.org/drawingml/2006/main">
            <a:r>
              <a:t>- docs/adr/0015-mobile-profile-and-guest-payment.md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inclusion as reduced cognitive load, not only translation. Mention that native-language and accessibility testing remain future validation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docs/ACCESSIBILITY.md</a:t>
            </a:r>
          </a:p>
          <a:p xmlns:a="http://schemas.openxmlformats.org/drawingml/2006/main">
            <a:r>
              <a:t>- docs/PRD.md</a:t>
            </a:r>
          </a:p>
          <a:p xmlns:a="http://schemas.openxmlformats.org/drawingml/2006/main">
            <a:r>
              <a:t>- docs/TEST_REPORT.md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responsible-AI centrepiece. The agent organises and validates information but leaves authentication, legal declarations, payment, and submission with the citizen.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https://parivahan.gov.in/parivahan/sites/default/files/DownloadForm/form4a.pdf</a:t>
            </a:r>
          </a:p>
          <a:p xmlns:a="http://schemas.openxmlformats.org/drawingml/2006/main">
            <a:r>
              <a:t>- https://mparivahan.parivahan.gov.in/mstatic/english/dl-info-international.html</a:t>
            </a:r>
          </a:p>
          <a:p xmlns:a="http://schemas.openxmlformats.org/drawingml/2006/main">
            <a:r>
              <a:t>- docs/AI-EVALUATION.md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authority model. A success animation is not proof; production completion requires an authoritative receipt or status reconciliation.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docs/AI-EVALUATION.md</a:t>
            </a:r>
          </a:p>
          <a:p xmlns:a="http://schemas.openxmlformats.org/drawingml/2006/main">
            <a:r>
              <a:t>- docs/RESPONSIBLE-AI-THREAT-MODEL.md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about what exists and what does not. The hackathon correctly uses transparent mocks; production would require formal consent, approved APIs, controls, and reconciliation.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https://buildwhatmovesindia.com/brief</a:t>
            </a:r>
          </a:p>
          <a:p xmlns:a="http://schemas.openxmlformats.org/drawingml/2006/main">
            <a:r>
              <a:t>- https://buildwhatmovesindia.com/faq</a:t>
            </a:r>
          </a:p>
          <a:p xmlns:a="http://schemas.openxmlformats.org/drawingml/2006/main">
            <a:r>
              <a:t>- https://www.meity.gov.in/writereaddata/files/Digital%20Personal%20Data%20Protection%20Act%202023.pdf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docs/MOCKS-AND-LIMITATIONS.md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as build-evidence metrics, not population impact. The prototype has deterministic regression checks, documented product decisions, and an AI acceptance specification for future integration.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docs/TEST_REPORT.md</a:t>
            </a:r>
          </a:p>
          <a:p xmlns:a="http://schemas.openxmlformats.org/drawingml/2006/main">
            <a:r>
              <a:t>- docs/AI-EVALUATION.md</a:t>
            </a:r>
          </a:p>
          <a:p xmlns:a="http://schemas.openxmlformats.org/drawingml/2006/main">
            <a:r>
              <a:t>- docs/adr/README.md</a:t>
            </a:r>
          </a:p>
          <a:p xmlns:a="http://schemas.openxmlformats.org/drawingml/2006/main">
            <a:r>
              <a:t>- tests/static-smoke.mjs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concrete ask: shortlist the prototype for deeper validation and an approved integration pathway. Do not claim existing partnerships or measured impact.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docs/PILOT-PLAN.md</a:t>
            </a:r>
          </a:p>
          <a:p xmlns:a="http://schemas.openxmlformats.org/drawingml/2006/main">
            <a:r>
              <a:t>- docs/BENCHMARK.md</a:t>
            </a:r>
          </a:p>
          <a:p xmlns:a="http://schemas.openxmlformats.org/drawingml/2006/main">
            <a:r>
              <a:t>- docs/RESEARCH.md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8b0144e4a49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e8a28c0c21432a" /><Relationship Type="http://schemas.openxmlformats.org/officeDocument/2006/relationships/slideLayout" Target="/ppt/slideLayouts/slideLayout1.xml" Id="R3d15833226f64c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15833226f64c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fb65cdfbe4b4c" /><Relationship Type="http://schemas.openxmlformats.org/officeDocument/2006/relationships/image" Target="/ppt/media/image.png" Id="Rb6348be617da4519" /><Relationship Type="http://schemas.openxmlformats.org/officeDocument/2006/relationships/notesSlide" Target="/ppt/notesSlides/notesSlide1.xml" Id="Rdc12dcf895cc4a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4fc1499a04ae9" /><Relationship Type="http://schemas.openxmlformats.org/officeDocument/2006/relationships/image" Target="/ppt/media/image.jpeg" Id="R04a6b1c182674efe" /><Relationship Type="http://schemas.openxmlformats.org/officeDocument/2006/relationships/notesSlide" Target="/ppt/notesSlides/notesSlide2.xml" Id="R54ab4e42889446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6a50896db49c3" /><Relationship Type="http://schemas.openxmlformats.org/officeDocument/2006/relationships/notesSlide" Target="/ppt/notesSlides/notesSlide3.xml" Id="R7d8b0c3f1ff348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66de961d7458c" /><Relationship Type="http://schemas.openxmlformats.org/officeDocument/2006/relationships/image" Target="/ppt/media/image2.jpeg" Id="Rb3f008fefe714c89" /><Relationship Type="http://schemas.openxmlformats.org/officeDocument/2006/relationships/notesSlide" Target="/ppt/notesSlides/notesSlide4.xml" Id="R3be1106312b34b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80dae1ca948a9" /><Relationship Type="http://schemas.openxmlformats.org/officeDocument/2006/relationships/image" Target="/ppt/media/image3.jpeg" Id="Rf386c0a7194941a6" /><Relationship Type="http://schemas.openxmlformats.org/officeDocument/2006/relationships/image" Target="/ppt/media/image4.jpeg" Id="R52f41d723dc340e2" /><Relationship Type="http://schemas.openxmlformats.org/officeDocument/2006/relationships/image" Target="/ppt/media/image5.jpeg" Id="R79a471c87e454691" /><Relationship Type="http://schemas.openxmlformats.org/officeDocument/2006/relationships/notesSlide" Target="/ppt/notesSlides/notesSlide5.xml" Id="R060fa34a459e48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c3bcf468b449f" /><Relationship Type="http://schemas.openxmlformats.org/officeDocument/2006/relationships/image" Target="/ppt/media/image2.png" Id="Re306f13da34f448a" /><Relationship Type="http://schemas.openxmlformats.org/officeDocument/2006/relationships/image" Target="/ppt/media/image3.png" Id="R245d771833364b4e" /><Relationship Type="http://schemas.openxmlformats.org/officeDocument/2006/relationships/notesSlide" Target="/ppt/notesSlides/notesSlide6.xml" Id="R57ae8fc17a8d49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56fdc071043d0" /><Relationship Type="http://schemas.openxmlformats.org/officeDocument/2006/relationships/image" Target="/ppt/media/image6.jpeg" Id="R21720bf43aa24539" /><Relationship Type="http://schemas.openxmlformats.org/officeDocument/2006/relationships/notesSlide" Target="/ppt/notesSlides/notesSlide7.xml" Id="Rb8a0474eb4c342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449e4c5b94993" /><Relationship Type="http://schemas.openxmlformats.org/officeDocument/2006/relationships/image" Target="/ppt/media/image7.jpeg" Id="R16095b44c1764554" /><Relationship Type="http://schemas.openxmlformats.org/officeDocument/2006/relationships/notesSlide" Target="/ppt/notesSlides/notesSlide8.xml" Id="R9ee51f57aca941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e8fdba14346da" /><Relationship Type="http://schemas.openxmlformats.org/officeDocument/2006/relationships/notesSlide" Target="/ppt/notesSlides/notesSlide9.xml" Id="Rfe55ef95ba0949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61973de5d4a1e" /><Relationship Type="http://schemas.openxmlformats.org/officeDocument/2006/relationships/notesSlide" Target="/ppt/notesSlides/notesSlide10.xml" Id="R9d66ea6c18434b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14641d3104f50" /><Relationship Type="http://schemas.openxmlformats.org/officeDocument/2006/relationships/notesSlide" Target="/ppt/notesSlides/notesSlide11.xml" Id="Redb2f0d8a4764a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5728358104a14" /><Relationship Type="http://schemas.openxmlformats.org/officeDocument/2006/relationships/notesSlide" Target="/ppt/notesSlides/notesSlide12.xml" Id="R307915c4de3e40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7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E09DE-71B8-446A-AACC-9053656E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solidFill>
              <a:srgbClr val="FF6B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1B196-A7CA-4D52-B85F-E6F1C09E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27A"/>
                </a:solidFill>
              </a:defRPr>
            </a:pPr>
            <a:r>
              <a:rPr sz="1050" b="1">
                <a:solidFill>
                  <a:srgbClr val="FFB27A"/>
                </a:solidFill>
              </a:rPr>
              <a:t>BUILD WHAT MOVES INDIA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95EAC-C798-4F6D-B41B-A15CE6D6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581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Parivahan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Sarathi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1B38D-6754-445E-8DF7-04F40128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DBFF"/>
                </a:solidFill>
              </a:defRPr>
            </a:pPr>
            <a:r>
              <a:rPr sz="2100" b="0">
                <a:solidFill>
                  <a:srgbClr val="D8DBFF"/>
                </a:solidFill>
              </a:rPr>
              <a:t>The understandable layer for India’s transport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11CD4-23D0-4F29-BCD9-93E7AE42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One person · One transport workspace · One clear next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45943-D1C4-4053-932E-EFC70EF1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90600"/>
            <a:ext cx="4095750" cy="43243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222B78"/>
          </a:solidFill>
          <a:ln xmlns:a="http://schemas.openxmlformats.org/drawingml/2006/main" w="9525">
            <a:solidFill>
              <a:srgbClr val="4852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48be617da4519"/>
          <a:stretch xmlns:a="http://schemas.openxmlformats.org/drawingml/2006/main"/>
        </p:blipFill>
        <p:spPr>
          <a:xfrm xmlns:a="http://schemas.openxmlformats.org/drawingml/2006/main">
            <a:off x="7297715" y="2038350"/>
            <a:ext cx="4092620" cy="2724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8B177-150B-467E-AB15-5F7198EF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BFF"/>
                </a:solidFill>
              </a:defRPr>
            </a:pPr>
            <a:r>
              <a:rPr sz="975" b="0">
                <a:solidFill>
                  <a:srgbClr val="D8DBFF"/>
                </a:solidFill>
              </a:rPr>
              <a:t>Independent hackathon prototype · Synthetic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3CE58-76A3-4478-9BB4-EC819E7D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D0770-5156-44BE-802C-7329839B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>
                    <a:alpha val="66667"/>
                  </a:srgbClr>
                </a:solidFill>
              </a:defRPr>
            </a:pPr>
            <a:r>
              <a:rPr sz="750" b="1">
                <a:solidFill>
                  <a:srgbClr val="FFFFFF">
                    <a:alpha val="66667"/>
                  </a:srgbClr>
                </a:solidFill>
              </a:rPr>
              <a:t>PARIVAHAN SARATHI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A73FF-38E4-458D-8344-571A39E3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>
                    <a:alpha val="66667"/>
                  </a:srgbClr>
                </a:solidFill>
              </a:defRPr>
            </a:pPr>
            <a:r>
              <a:rPr sz="750" b="1">
                <a:solidFill>
                  <a:srgbClr val="FFFFFF">
                    <a:alpha val="66667"/>
                  </a:srgbClr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9450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60DC7-7BD0-4741-B82E-89F98244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00"/>
                </a:solidFill>
              </a:defRPr>
            </a:pPr>
            <a:r>
              <a:rPr sz="1050" b="1">
                <a:solidFill>
                  <a:srgbClr val="FF6B00"/>
                </a:solidFill>
              </a:rPr>
              <a:t>WHY I PICKED THIS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1A501-D814-4F5D-BCC7-70ED682B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858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529"/>
                </a:solidFill>
              </a:defRPr>
            </a:pPr>
            <a:r>
              <a:rPr sz="3000" b="1">
                <a:solidFill>
                  <a:srgbClr val="121529"/>
                </a:solidFill>
              </a:rPr>
              <a:t>A service can be online—and still feel impossible to complete.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899CF-95BD-49B5-BCF0-38AF83FE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E83"/>
                </a:solidFill>
              </a:defRPr>
            </a:pPr>
            <a:r>
              <a:rPr sz="1650" b="0">
                <a:solidFill>
                  <a:srgbClr val="686E83"/>
                </a:solidFill>
              </a:rPr>
              <a:t>When I explored transport journeys, the transactions existed. The missing layer was understanding.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EA1A0-F911-4282-8E05-146CDC52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solidFill>
              <a:srgbClr val="FF6B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80EAB-3AB6-4588-942B-21897ADE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87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529"/>
                </a:solidFill>
              </a:defRPr>
            </a:pPr>
            <a:r>
              <a:rPr sz="1500" b="1">
                <a:solidFill>
                  <a:srgbClr val="121529"/>
                </a:solidFill>
              </a:rPr>
              <a:t>Which service owns my task?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BF454-D013-4B78-8607-F63E31A8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solidFill>
              <a:srgbClr val="FF6B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AF7A7-E78E-48C7-8F4D-0FB33E6F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87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529"/>
                </a:solidFill>
              </a:defRPr>
            </a:pPr>
            <a:r>
              <a:rPr sz="1500" b="1">
                <a:solidFill>
                  <a:srgbClr val="121529"/>
                </a:solidFill>
              </a:rPr>
              <a:t>What should I prepare before I start?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DB582-B786-4ED3-A2CE-2478EC8D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solidFill>
              <a:srgbClr val="FF6B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E36F0-7EAF-41D2-BD0C-3C3644ED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506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529"/>
                </a:solidFill>
              </a:defRPr>
            </a:pPr>
            <a:r>
              <a:rPr sz="1500" b="1">
                <a:solidFill>
                  <a:srgbClr val="121529"/>
                </a:solidFill>
              </a:rPr>
              <a:t>Did the payment or application really complete?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0A78B-375E-4B39-B302-979256FC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76350"/>
            <a:ext cx="415290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6b1c182674efe"/>
          <a:stretch xmlns:a="http://schemas.openxmlformats.org/drawingml/2006/main"/>
        </p:blipFill>
        <p:spPr>
          <a:xfrm xmlns:a="http://schemas.openxmlformats.org/drawingml/2006/main">
            <a:off x="7526867" y="1352550"/>
            <a:ext cx="3996267" cy="224790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2E584-070C-4E09-B994-3CDECAE8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4000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74F"/>
          </a:solidFill>
          <a:ln xmlns:a="http://schemas.openxmlformats.org/drawingml/2006/main" w="0">
            <a:solidFill>
              <a:srgbClr val="1017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88ACD-BBCA-45FC-B190-4ED0153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24350"/>
            <a:ext cx="3390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Online does not always mean understandable.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2AF6A-D00F-4BF8-B2A9-0536F80B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35ABC-8E64-48AD-95CC-921343AF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PARIVAHAN SARATHI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AD5A2-AEA0-4BD9-AA82-63E9396E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8557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CE2D8-1715-4DD2-9D35-B05EB295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00"/>
                </a:solidFill>
              </a:defRPr>
            </a:pPr>
            <a:r>
              <a:rPr sz="1050" b="1">
                <a:solidFill>
                  <a:srgbClr val="FF6B00"/>
                </a:solidFill>
              </a:rPr>
              <a:t>THE COMPLETION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2BFE2-6486-4462-A9F7-89B772C5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529"/>
                </a:solidFill>
              </a:defRPr>
            </a:pPr>
            <a:r>
              <a:rPr sz="3000" b="1">
                <a:solidFill>
                  <a:srgbClr val="121529"/>
                </a:solidFill>
              </a:rPr>
              <a:t>The burden is not finding a portal. It is completing the journey.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64D12-F087-4CA0-87E4-6CD8B487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237E"/>
                </a:solidFill>
              </a:defRPr>
            </a:pPr>
            <a:r>
              <a:rPr sz="2025" b="1">
                <a:solidFill>
                  <a:srgbClr val="1A237E"/>
                </a:solidFill>
              </a:rPr>
              <a:t>Vahan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A9765-5379-4F4B-8FA8-D7361E9A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E83"/>
                </a:solidFill>
              </a:defRPr>
            </a:pPr>
            <a:r>
              <a:rPr sz="1200" b="0">
                <a:solidFill>
                  <a:srgbClr val="686E83"/>
                </a:solidFill>
              </a:rPr>
              <a:t>vehicle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9A654-B095-44D3-9771-2240D511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09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DE0EA"/>
                </a:solidFill>
              </a:defRPr>
            </a:pPr>
            <a:r>
              <a:rPr sz="2250" b="1">
                <a:solidFill>
                  <a:srgbClr val="DDE0E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1A85A-085A-4C86-990B-DCF0E6A0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00"/>
                </a:solidFill>
              </a:defRPr>
            </a:pPr>
            <a:r>
              <a:rPr sz="2025" b="1">
                <a:solidFill>
                  <a:srgbClr val="FF6B00"/>
                </a:solidFill>
              </a:rPr>
              <a:t>Sarathi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D3025-0905-469F-A3B4-17A67254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E83"/>
                </a:solidFill>
              </a:defRPr>
            </a:pPr>
            <a:r>
              <a:rPr sz="1200" b="0">
                <a:solidFill>
                  <a:srgbClr val="686E83"/>
                </a:solidFill>
              </a:rPr>
              <a:t>licence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01E38-EC64-4C55-9135-1E315A2F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DE0EA"/>
                </a:solidFill>
              </a:defRPr>
            </a:pPr>
            <a:r>
              <a:rPr sz="2250" b="1">
                <a:solidFill>
                  <a:srgbClr val="DDE0E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9D55D-93B3-4A00-84C5-6B9DCE36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237E"/>
                </a:solidFill>
              </a:defRPr>
            </a:pPr>
            <a:r>
              <a:rPr sz="2025" b="1">
                <a:solidFill>
                  <a:srgbClr val="1A237E"/>
                </a:solidFill>
              </a:rPr>
              <a:t>eChallan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967DD-2601-4434-B761-CF94641B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E83"/>
                </a:solidFill>
              </a:defRPr>
            </a:pPr>
            <a:r>
              <a:rPr sz="1200" b="0">
                <a:solidFill>
                  <a:srgbClr val="686E83"/>
                </a:solidFill>
              </a:rPr>
              <a:t>notices &amp; payment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BF928-07AA-41CB-9861-00E8260C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DE0EA"/>
                </a:solidFill>
              </a:defRPr>
            </a:pPr>
            <a:r>
              <a:rPr sz="2250" b="1">
                <a:solidFill>
                  <a:srgbClr val="DDE0E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1AC55-3D6D-4727-A8A2-CC62B02F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383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237E"/>
                </a:solidFill>
              </a:defRPr>
            </a:pPr>
            <a:r>
              <a:rPr sz="2025" b="1">
                <a:solidFill>
                  <a:srgbClr val="1A237E"/>
                </a:solidFill>
              </a:rPr>
              <a:t>State RTO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2B8D2-1022-4E3F-98F4-E8992834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E83"/>
                </a:solidFill>
              </a:defRPr>
            </a:pPr>
            <a:r>
              <a:rPr sz="1200" b="0">
                <a:solidFill>
                  <a:srgbClr val="686E83"/>
                </a:solidFill>
              </a:rPr>
              <a:t>local rules &amp; visits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50214-541C-4CCC-B1D1-7ABDC668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10896600" cy="1905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174F"/>
          </a:solidFill>
          <a:ln xmlns:a="http://schemas.openxmlformats.org/drawingml/2006/main" w="0">
            <a:solidFill>
              <a:srgbClr val="1017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E92BD-ED45-4C02-B08A-29F2E053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27A"/>
                </a:solidFill>
              </a:defRPr>
            </a:pPr>
            <a:r>
              <a:rPr sz="975" b="1">
                <a:solidFill>
                  <a:srgbClr val="FFB27A"/>
                </a:solidFill>
              </a:rPr>
              <a:t>CITIZEN REALITY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913C7-17A3-463E-AF12-BCF5F1B4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One deadline crosses documents, forms, language, eligibility, payment and proof.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EC77B-EDED-41E9-B08D-89EDB9C0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7A702-848C-49DA-9652-E9EE2EAC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PARIVAHAN SARATHI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F6704-8CF8-40E4-9DB1-4E38379C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0116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8229C-F95B-4A60-B957-280C3622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00"/>
                </a:solidFill>
              </a:defRPr>
            </a:pPr>
            <a:r>
              <a:rPr sz="1050" b="1">
                <a:solidFill>
                  <a:srgbClr val="FF6B00"/>
                </a:solidFill>
              </a:rPr>
              <a:t>THE PRODUCT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5576C-0608-4381-A737-575653E7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529"/>
                </a:solidFill>
              </a:defRPr>
            </a:pPr>
            <a:r>
              <a:rPr sz="3000" b="1">
                <a:solidFill>
                  <a:srgbClr val="121529"/>
                </a:solidFill>
              </a:rPr>
              <a:t>Citizens need the next action—not another service directory.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421F2-9C9D-42DC-B6D2-A3580010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E83"/>
                </a:solidFill>
              </a:defRPr>
            </a:pPr>
            <a:r>
              <a:rPr sz="1575" b="0">
                <a:solidFill>
                  <a:srgbClr val="686E83"/>
                </a:solidFill>
              </a:rPr>
              <a:t>Sarathi behaves like a guardian around official services.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3BED4-E7F0-483C-AFD4-227F4A44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00"/>
                </a:solidFill>
              </a:defRPr>
            </a:pPr>
            <a:r>
              <a:rPr sz="1050" b="1">
                <a:solidFill>
                  <a:srgbClr val="FF6B0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BEAE6-7F3E-431D-AC1F-E559A6B7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529"/>
                </a:solidFill>
              </a:defRPr>
            </a:pPr>
            <a:r>
              <a:rPr sz="1875" b="1">
                <a:solidFill>
                  <a:srgbClr val="121529"/>
                </a:solidFill>
              </a:rPr>
              <a:t>Prioritise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01908-D455-4B74-B332-90CC86AB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BDB97-A564-4369-9F22-732E4B7F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00"/>
                </a:solidFill>
              </a:defRPr>
            </a:pPr>
            <a:r>
              <a:rPr sz="1050" b="1">
                <a:solidFill>
                  <a:srgbClr val="FF6B00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78E48-BFAD-4249-92BF-7AA87EDD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529"/>
                </a:solidFill>
              </a:defRPr>
            </a:pPr>
            <a:r>
              <a:rPr sz="1875" b="1">
                <a:solidFill>
                  <a:srgbClr val="121529"/>
                </a:solidFill>
              </a:rPr>
              <a:t>Explain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CE624-C100-4EF8-BFBC-BBFB63E0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001E0-6974-4BCC-82C6-3139F76B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00"/>
                </a:solidFill>
              </a:defRPr>
            </a:pPr>
            <a:r>
              <a:rPr sz="1050" b="1">
                <a:solidFill>
                  <a:srgbClr val="FF6B00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D48D2-2B8D-4C31-B00D-981DF1C0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529"/>
                </a:solidFill>
              </a:defRPr>
            </a:pPr>
            <a:r>
              <a:rPr sz="1875" b="1">
                <a:solidFill>
                  <a:srgbClr val="121529"/>
                </a:solidFill>
              </a:rPr>
              <a:t>Prepare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03E86-9E86-418C-9063-D9ED4895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0610C-A3B3-47A3-A8EE-CE03EB6F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00"/>
                </a:solidFill>
              </a:defRPr>
            </a:pPr>
            <a:r>
              <a:rPr sz="1050" b="1">
                <a:solidFill>
                  <a:srgbClr val="FF6B00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C2AC4-241C-4553-A011-EB37431F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529"/>
                </a:solidFill>
              </a:defRPr>
            </a:pPr>
            <a:r>
              <a:rPr sz="1875" b="1">
                <a:solidFill>
                  <a:srgbClr val="121529"/>
                </a:solidFill>
              </a:rPr>
              <a:t>Hand off safely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06DCD-E329-48EA-AB0E-A0B186B4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04900"/>
            <a:ext cx="5543550" cy="4705350"/>
          </a:xfrm>
          <a:prstGeom xmlns:a="http://schemas.openxmlformats.org/drawingml/2006/main" prst="roundRect">
            <a:avLst>
              <a:gd name="adj" fmla="val 32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008fefe714c89"/>
          <a:srcRect xmlns:a="http://schemas.openxmlformats.org/drawingml/2006/main" l="16697" t="0" r="166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1181100"/>
            <a:ext cx="5391150" cy="4552950"/>
          </a:xfrm>
          <a:prstGeom xmlns:a="http://schemas.openxmlformats.org/drawingml/2006/main" prst="roundRect">
            <a:avLst>
              <a:gd name="adj" fmla="val 251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C3DE2-F568-4979-BEC8-D9E4765C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359AF-F3C6-4B0F-A41E-DC326435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PARIVAHAN SARATHI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35F42-D717-4EB8-8832-7996CF62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9835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ED1B3-DCE9-4928-BEB3-F92CA246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00"/>
                </a:solidFill>
              </a:defRPr>
            </a:pPr>
            <a:r>
              <a:rPr sz="1050" b="1">
                <a:solidFill>
                  <a:srgbClr val="FF6B00"/>
                </a:solidFill>
              </a:rPr>
              <a:t>THE HERO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E8254-5D44-49CF-839D-F4153748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529"/>
                </a:solidFill>
              </a:defRPr>
            </a:pPr>
            <a:r>
              <a:rPr sz="3000" b="1">
                <a:solidFill>
                  <a:srgbClr val="121529"/>
                </a:solidFill>
              </a:rPr>
              <a:t>A looming deadline becomes a prepared official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40690-99DF-4BD0-8479-C817CB4F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3333750" cy="2609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6c0a7194941a6"/>
          <a:srcRect xmlns:a="http://schemas.openxmlformats.org/drawingml/2006/main" l="13590" t="0" r="135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05000"/>
            <a:ext cx="3181350" cy="24574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9394D-F816-4992-8005-59297C65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00"/>
                </a:solidFill>
              </a:defRPr>
            </a:pPr>
            <a:r>
              <a:rPr sz="2250" b="1">
                <a:solidFill>
                  <a:srgbClr val="FF6B00"/>
                </a:solidFill>
              </a:rPr>
              <a:t>28 days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C61D3-F799-494B-9831-A19CE036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6E83"/>
                </a:solidFill>
              </a:defRPr>
            </a:pPr>
            <a:r>
              <a:rPr sz="1275" b="0">
                <a:solidFill>
                  <a:srgbClr val="686E83"/>
                </a:solidFill>
              </a:rPr>
              <a:t>Know what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8EA0D-CB00-4124-9448-0AFBBC1E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00"/>
                </a:solidFill>
              </a:defRPr>
            </a:pPr>
            <a:r>
              <a:rPr sz="2100" b="1">
                <a:solidFill>
                  <a:srgbClr val="FF6B00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257E4-9512-42CA-B9BF-EC663ECF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28800"/>
            <a:ext cx="3333750" cy="2609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41d723dc340e2"/>
          <a:srcRect xmlns:a="http://schemas.openxmlformats.org/drawingml/2006/main" l="13590" t="0" r="135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1905000"/>
            <a:ext cx="3181350" cy="24574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0F94D-B485-47D2-9542-562C3C38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053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A237E"/>
                </a:solidFill>
              </a:defRPr>
            </a:pPr>
            <a:r>
              <a:rPr sz="2250" b="1">
                <a:solidFill>
                  <a:srgbClr val="1A237E"/>
                </a:solidFill>
              </a:rPr>
              <a:t>4 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97E3A-D529-4A81-BBCC-BF32D49A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244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6E83"/>
                </a:solidFill>
              </a:defRPr>
            </a:pPr>
            <a:r>
              <a:rPr sz="1275" b="0">
                <a:solidFill>
                  <a:srgbClr val="686E83"/>
                </a:solidFill>
              </a:rPr>
              <a:t>Understand the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A4B18-8CF0-4A98-A368-9DC4CEF3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051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00"/>
                </a:solidFill>
              </a:defRPr>
            </a:pPr>
            <a:r>
              <a:rPr sz="2100" b="1">
                <a:solidFill>
                  <a:srgbClr val="FF6B0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9F9F3-B81E-4B49-98C4-8887DFEA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28800"/>
            <a:ext cx="3333750" cy="2609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471c87e454691"/>
          <a:srcRect xmlns:a="http://schemas.openxmlformats.org/drawingml/2006/main" l="13590" t="0" r="135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4800" y="1905000"/>
            <a:ext cx="3181350" cy="24574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31AAB-D0AE-4167-B3EC-0A002D9C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053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A237E"/>
                </a:solidFill>
              </a:defRPr>
            </a:pPr>
            <a:r>
              <a:rPr sz="2250" b="1">
                <a:solidFill>
                  <a:srgbClr val="1A237E"/>
                </a:solidFill>
              </a:rPr>
              <a:t>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D82CF-7B84-4F2E-B1A6-EF5DAA89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244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6E83"/>
                </a:solidFill>
              </a:defRPr>
            </a:pPr>
            <a:r>
              <a:rPr sz="1275" b="0">
                <a:solidFill>
                  <a:srgbClr val="686E83"/>
                </a:solidFill>
              </a:rPr>
              <a:t>Carry the right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D2031-0687-49FA-9C9B-D26D7BC7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962E4-5FA7-4333-B54B-9E66214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PARIVAHAN SARATHI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85BB5-46FA-4029-AE88-76F55B5A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96268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C303E-A00E-4041-9B0B-A5B2E008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00"/>
                </a:solidFill>
              </a:defRPr>
            </a:pPr>
            <a:r>
              <a:rPr sz="1050" b="1">
                <a:solidFill>
                  <a:srgbClr val="FF6B00"/>
                </a:solidFill>
              </a:rPr>
              <a:t>DESIGNED AROUND THE PERSON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53211-CA3C-413A-902E-991D0B00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529"/>
                </a:solidFill>
              </a:defRPr>
            </a:pPr>
            <a:r>
              <a:rPr sz="3000" b="1">
                <a:solidFill>
                  <a:srgbClr val="121529"/>
                </a:solidFill>
              </a:rPr>
              <a:t>Ravi is not a registration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0BD98-F4DC-471F-9FDB-24DEA8D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E83"/>
                </a:solidFill>
              </a:defRPr>
            </a:pPr>
            <a:r>
              <a:rPr sz="1650" b="0">
                <a:solidFill>
                  <a:srgbClr val="686E83"/>
                </a:solidFill>
              </a:rPr>
              <a:t>Personal obligations stay separate from vehicle records—without losing the whole picture.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57B7C-0AA0-414E-BBC6-81FCB35C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3143250" cy="28765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10174F"/>
          </a:solidFill>
          <a:ln xmlns:a="http://schemas.openxmlformats.org/drawingml/2006/main" w="0">
            <a:solidFill>
              <a:srgbClr val="1017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D77D3-2492-4EB1-B539-33FA1891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RAVI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6AC50-D085-49D1-AB6A-57D29838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495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8DBFF"/>
                </a:solidFill>
              </a:defRPr>
            </a:pPr>
            <a:r>
              <a:rPr sz="1650" b="0">
                <a:solidFill>
                  <a:srgbClr val="D8DBFF"/>
                </a:solidFill>
              </a:rPr>
              <a:t>Driving Licence</a:t>
            </a:r>
          </a:p>
          <a:p xmlns:a="http://schemas.openxmlformats.org/drawingml/2006/main">
            <a:pPr algn="ctr">
              <a:defRPr sz="1650" b="0">
                <a:solidFill>
                  <a:srgbClr val="D8DBFF"/>
                </a:solidFill>
              </a:defRPr>
            </a:pPr>
            <a:r>
              <a:rPr sz="1650" b="0">
                <a:solidFill>
                  <a:srgbClr val="D8DBFF"/>
                </a:solidFill>
              </a:rPr>
              <a:t>Applications</a:t>
            </a:r>
          </a:p>
          <a:p xmlns:a="http://schemas.openxmlformats.org/drawingml/2006/main">
            <a:pPr algn="ctr">
              <a:defRPr sz="1650" b="0">
                <a:solidFill>
                  <a:srgbClr val="D8DBFF"/>
                </a:solidFill>
              </a:defRPr>
            </a:pPr>
            <a:r>
              <a:rPr sz="1650" b="0">
                <a:solidFill>
                  <a:srgbClr val="D8DBFF"/>
                </a:solidFill>
              </a:rPr>
              <a:t>Preferences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52386-0685-4D5E-AE69-CF29433D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05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27A"/>
                </a:solidFill>
              </a:defRPr>
            </a:pPr>
            <a:r>
              <a:rPr sz="900" b="1">
                <a:solidFill>
                  <a:srgbClr val="FFB27A"/>
                </a:solidFill>
              </a:rPr>
              <a:t>PERSONAL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2CA52-642C-4F50-8C31-19E2A467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718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6B00"/>
                </a:solidFill>
              </a:defRPr>
            </a:pPr>
            <a:r>
              <a:rPr sz="3150" b="1">
                <a:solidFill>
                  <a:srgbClr val="FF6B00"/>
                </a:solidFill>
              </a:rPr>
              <a:t>+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6f13da34f448a"/>
          <a:stretch xmlns:a="http://schemas.openxmlformats.org/drawingml/2006/main"/>
        </p:blipFill>
        <p:spPr>
          <a:xfrm xmlns:a="http://schemas.openxmlformats.org/drawingml/2006/main">
            <a:off x="4629150" y="2382887"/>
            <a:ext cx="3143250" cy="209222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FCE83-3776-4505-8455-F01B6E5F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5770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1529"/>
                </a:solidFill>
              </a:defRPr>
            </a:pPr>
            <a:r>
              <a:rPr sz="1875" b="1">
                <a:solidFill>
                  <a:srgbClr val="121529"/>
                </a:solidFill>
              </a:rPr>
              <a:t>Honda City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887C9-BAC8-4F23-AD31-291A998F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5775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E83"/>
                </a:solidFill>
              </a:defRPr>
            </a:pPr>
            <a:r>
              <a:rPr sz="1200" b="0">
                <a:solidFill>
                  <a:srgbClr val="686E83"/>
                </a:solidFill>
              </a:rPr>
              <a:t>RC · Insurance · PUC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d771833364b4e"/>
          <a:stretch xmlns:a="http://schemas.openxmlformats.org/drawingml/2006/main"/>
        </p:blipFill>
        <p:spPr>
          <a:xfrm xmlns:a="http://schemas.openxmlformats.org/drawingml/2006/main">
            <a:off x="8191500" y="2382887"/>
            <a:ext cx="3143250" cy="209222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83CA9-2478-4C0E-BB1E-F57C3B11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1529"/>
                </a:solidFill>
              </a:defRPr>
            </a:pPr>
            <a:r>
              <a:rPr sz="1875" b="1">
                <a:solidFill>
                  <a:srgbClr val="121529"/>
                </a:solidFill>
              </a:rPr>
              <a:t>TVS Jupiter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8C154-1E9F-490C-9A0D-6DF07029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5775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E83"/>
                </a:solidFill>
              </a:defRPr>
            </a:pPr>
            <a:r>
              <a:rPr sz="1200" b="0">
                <a:solidFill>
                  <a:srgbClr val="686E83"/>
                </a:solidFill>
              </a:rPr>
              <a:t>RC · Insurance · PUC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48F9F-4528-4AD9-8469-B100E120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DFEA6-BDA1-4D23-9F18-DF1998E5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PARIVAHAN SARATHI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10504-FBBC-4DEF-B9EF-00F5A70E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572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F1B2C-1777-44BB-9D4D-DE8EBE18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00"/>
                </a:solidFill>
              </a:defRPr>
            </a:pPr>
            <a:r>
              <a:rPr sz="1050" b="1">
                <a:solidFill>
                  <a:srgbClr val="FF6B00"/>
                </a:solidFill>
              </a:rPr>
              <a:t>INCLUSION IS PART OF THE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78366-B078-488F-B9AD-16759845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529"/>
                </a:solidFill>
              </a:defRPr>
            </a:pPr>
            <a:r>
              <a:rPr sz="3000" b="1">
                <a:solidFill>
                  <a:srgbClr val="121529"/>
                </a:solidFill>
              </a:rPr>
              <a:t>Less reading. Fewer barriers. Useful even when connectivity drops.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68356-1F19-4BBB-B65E-4384BE00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7210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20bf43aa24539"/>
          <a:srcRect xmlns:a="http://schemas.openxmlformats.org/drawingml/2006/main" l="9009" t="0" r="90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81200"/>
            <a:ext cx="5219700" cy="3581400"/>
          </a:xfrm>
          <a:prstGeom xmlns:a="http://schemas.openxmlformats.org/drawingml/2006/main" prst="roundRect">
            <a:avLst>
              <a:gd name="adj" fmla="val 31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8D9CE-CAD1-4420-8329-5889B1C3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00"/>
                </a:solidFill>
              </a:defRPr>
            </a:pPr>
            <a:r>
              <a:rPr sz="1800" b="1">
                <a:solidFill>
                  <a:srgbClr val="FF6B00"/>
                </a:solidFill>
              </a:rPr>
              <a:t>हिंदी + 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8A9B5-CF5E-451A-9728-19260E22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E83"/>
                </a:solidFill>
              </a:defRPr>
            </a:pPr>
            <a:r>
              <a:rPr sz="1275" b="0">
                <a:solidFill>
                  <a:srgbClr val="686E83"/>
                </a:solidFill>
              </a:rPr>
              <a:t>Interface-level language switching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8D858-204A-44BD-8954-754CB0E9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77284-ED87-4E12-B5CC-825703B1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7E"/>
                </a:solidFill>
              </a:defRPr>
            </a:pPr>
            <a:r>
              <a:rPr sz="1800" b="1">
                <a:solidFill>
                  <a:srgbClr val="1A237E"/>
                </a:solidFill>
              </a:rPr>
              <a:t>Guest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BC42B-30A2-4E35-9109-38957204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E83"/>
                </a:solidFill>
              </a:defRPr>
            </a:pPr>
            <a:r>
              <a:rPr sz="1275" b="0">
                <a:solidFill>
                  <a:srgbClr val="686E83"/>
                </a:solidFill>
              </a:rPr>
              <a:t>Challan and guidance without forced 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331F6-65C4-42E6-95A3-E0431CED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7AC71-03CD-49D5-9887-9986AF2C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7E"/>
                </a:solidFill>
              </a:defRPr>
            </a:pPr>
            <a:r>
              <a:rPr sz="1800" b="1">
                <a:solidFill>
                  <a:srgbClr val="1A237E"/>
                </a:solidFill>
              </a:rPr>
              <a:t>Offline + Share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29C07-31C1-444F-829B-39BF09F1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E83"/>
                </a:solidFill>
              </a:defRPr>
            </a:pPr>
            <a:r>
              <a:rPr sz="1275" b="0">
                <a:solidFill>
                  <a:srgbClr val="686E83"/>
                </a:solidFill>
              </a:rPr>
              <a:t>Citizen-controlled document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7C8D1-A02A-4D36-AD3E-EC119D1C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5754C-41FE-4731-B31B-2B858F9F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7E"/>
                </a:solidFill>
              </a:defRPr>
            </a:pPr>
            <a:r>
              <a:rPr sz="1800" b="1">
                <a:solidFill>
                  <a:srgbClr val="1A237E"/>
                </a:solidFill>
              </a:rPr>
              <a:t>Mobile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AFC35-4201-4EFF-976C-FBACFC05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E83"/>
                </a:solidFill>
              </a:defRPr>
            </a:pPr>
            <a:r>
              <a:rPr sz="1275" b="0">
                <a:solidFill>
                  <a:srgbClr val="686E83"/>
                </a:solidFill>
              </a:rPr>
              <a:t>Responsive navigation and touch targets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66401-F8A7-47D7-8569-C974743A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18A42-019D-43DC-9070-0B9640C8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PARIVAHAN SARATHI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7123E-E483-4F19-A2D7-A7CB84EC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06797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7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ED75A-453E-4A71-B6E5-B92B4287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27A"/>
                </a:solidFill>
              </a:defRPr>
            </a:pPr>
            <a:r>
              <a:rPr sz="1050" b="1">
                <a:solidFill>
                  <a:srgbClr val="FFB27A"/>
                </a:solidFill>
              </a:rPr>
              <a:t>RESPONSIBLE FORM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CA9D8-DD0B-44DE-A567-D6BA5FB3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590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AI prepares. The citizen authorises.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FC2CD-984A-4FC1-936F-5BEABF7F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BFF"/>
                </a:solidFill>
              </a:defRPr>
            </a:pPr>
            <a:r>
              <a:rPr sz="1575" b="0">
                <a:solidFill>
                  <a:srgbClr val="D8DBFF"/>
                </a:solidFill>
              </a:rPr>
              <a:t>International Driving Permit preparation demonstrates the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E6FE9-1094-4FE9-A620-B1B9DA45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09990-A2ED-4993-A386-99D0DEEB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Reuse reviewed profile fields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FB86B-E4B0-4963-866E-D3B7209C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A5D6F-2866-46EF-88B1-E74A0D0A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Find missing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03486-F4BE-4449-9571-98D5285C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CDD3B-21AB-4FC1-81DB-FD689F98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Prepare a local draft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00664-0180-46C5-8164-7B392587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27A"/>
                </a:solidFill>
              </a:defRPr>
            </a:pPr>
            <a:r>
              <a:rPr sz="1050" b="1">
                <a:solidFill>
                  <a:srgbClr val="FFB27A"/>
                </a:solidFill>
              </a:rPr>
              <a:t>NEVER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5E3B5-74AC-4C36-8692-8FBF3620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CAPTCHA · OTP · declaration · payment · submission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8EBC1-DABC-4FD6-B4F7-F62EB1C8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990600"/>
            <a:ext cx="5010150" cy="4591050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20296E"/>
          </a:solidFill>
          <a:ln xmlns:a="http://schemas.openxmlformats.org/drawingml/2006/main" w="9525">
            <a:solidFill>
              <a:srgbClr val="4852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95b44c1764554"/>
          <a:srcRect xmlns:a="http://schemas.openxmlformats.org/drawingml/2006/main" l="19219" t="0" r="192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1066800"/>
            <a:ext cx="4857750" cy="4438650"/>
          </a:xfrm>
          <a:prstGeom xmlns:a="http://schemas.openxmlformats.org/drawingml/2006/main" prst="roundRect">
            <a:avLst>
              <a:gd name="adj" fmla="val 2575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9DDD3-96DA-4109-B413-AA9B3032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C410F-0081-4F33-B198-0F620732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>
                    <a:alpha val="66667"/>
                  </a:srgbClr>
                </a:solidFill>
              </a:defRPr>
            </a:pPr>
            <a:r>
              <a:rPr sz="750" b="1">
                <a:solidFill>
                  <a:srgbClr val="FFFFFF">
                    <a:alpha val="66667"/>
                  </a:srgbClr>
                </a:solidFill>
              </a:rPr>
              <a:t>PARIVAHAN SARATHI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098FD-7B94-4356-ABCB-B403F95B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>
                    <a:alpha val="66667"/>
                  </a:srgbClr>
                </a:solidFill>
              </a:defRPr>
            </a:pPr>
            <a:r>
              <a:rPr sz="750" b="1">
                <a:solidFill>
                  <a:srgbClr val="FFFFFF">
                    <a:alpha val="66667"/>
                  </a:srgbClr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116485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AF627-11BA-4F3F-8997-9E70AF2F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00"/>
                </a:solidFill>
              </a:defRPr>
            </a:pPr>
            <a:r>
              <a:rPr sz="1050" b="1">
                <a:solidFill>
                  <a:srgbClr val="FF6B00"/>
                </a:solidFill>
              </a:rPr>
              <a:t>TRUST IS A PRODUCT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A690A-5296-4085-8C78-095D1D69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529"/>
                </a:solidFill>
              </a:defRPr>
            </a:pPr>
            <a:r>
              <a:rPr sz="3000" b="1">
                <a:solidFill>
                  <a:srgbClr val="121529"/>
                </a:solidFill>
              </a:rPr>
              <a:t>Consequential actions never depend on generated confidence.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A5B41-4CE5-48E1-B110-85CC1B0E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3181350" cy="3333750"/>
          </a:xfrm>
          <a:prstGeom xmlns:a="http://schemas.openxmlformats.org/drawingml/2006/main" prst="roundRect">
            <a:avLst>
              <a:gd name="adj" fmla="val 7186"/>
            </a:avLst>
          </a:prstGeom>
          <a:solidFill xmlns:a="http://schemas.openxmlformats.org/drawingml/2006/main">
            <a:srgbClr val="E6F7F0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625EA-90DC-40B4-8F89-74F15ACC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845B"/>
                </a:solidFill>
              </a:defRPr>
            </a:pPr>
            <a:r>
              <a:rPr sz="1800" b="1">
                <a:solidFill>
                  <a:srgbClr val="11845B"/>
                </a:solidFill>
              </a:rPr>
              <a:t>AI may assist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C7746-46C7-4CEC-8566-37660C27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D7F94-C43F-42BF-8D8E-AB92923C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1529"/>
                </a:solidFill>
              </a:defRPr>
            </a:pPr>
            <a:r>
              <a:rPr sz="1350" b="0">
                <a:solidFill>
                  <a:srgbClr val="121529"/>
                </a:solidFill>
              </a:rPr>
              <a:t>Explain a term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23622-8C89-443A-A4E4-6F1B8214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22A66-8E6B-44F2-A6D5-2210F539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1529"/>
                </a:solidFill>
              </a:defRPr>
            </a:pPr>
            <a:r>
              <a:rPr sz="1350" b="0">
                <a:solidFill>
                  <a:srgbClr val="121529"/>
                </a:solidFill>
              </a:rPr>
              <a:t>Extract into a 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DE188-9985-4840-9171-9A26B35C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DC3D1-D5EB-4FF7-BD3B-6E5D2CD0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1529"/>
                </a:solidFill>
              </a:defRPr>
            </a:pPr>
            <a:r>
              <a:rPr sz="1350" b="0">
                <a:solidFill>
                  <a:srgbClr val="121529"/>
                </a:solidFill>
              </a:rPr>
              <a:t>Prepare a draft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D2C01-2706-4677-84AA-DF1024A8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9300"/>
            <a:ext cx="3181350" cy="3333750"/>
          </a:xfrm>
          <a:prstGeom xmlns:a="http://schemas.openxmlformats.org/drawingml/2006/main" prst="roundRect">
            <a:avLst>
              <a:gd name="adj" fmla="val 7186"/>
            </a:avLst>
          </a:prstGeom>
          <a:solidFill xmlns:a="http://schemas.openxmlformats.org/drawingml/2006/main">
            <a:srgbClr val="ECEEFF"/>
          </a:solidFill>
          <a:ln xmlns:a="http://schemas.openxmlformats.org/drawingml/2006/main" w="9525">
            <a:solidFill>
              <a:srgbClr val="1A237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110BD-38C6-40DE-814B-6A90C236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A237E"/>
                </a:solidFill>
              </a:defRPr>
            </a:pPr>
            <a:r>
              <a:rPr sz="1800" b="1">
                <a:solidFill>
                  <a:srgbClr val="1A237E"/>
                </a:solidFill>
              </a:rPr>
              <a:t>Workflow must 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77184-DBD2-492F-9B28-4AEEA994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623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93D06-CE2E-4AB2-A4C6-4FDC4039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1470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1529"/>
                </a:solidFill>
              </a:defRPr>
            </a:pPr>
            <a:r>
              <a:rPr sz="1350" b="0">
                <a:solidFill>
                  <a:srgbClr val="121529"/>
                </a:solidFill>
              </a:rPr>
              <a:t>Required fields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34223-1DE5-4674-9E54-E36CBBBB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8E822-CBFB-403C-9832-2350D78E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6240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1529"/>
                </a:solidFill>
              </a:defRPr>
            </a:pPr>
            <a:r>
              <a:rPr sz="1350" b="0">
                <a:solidFill>
                  <a:srgbClr val="121529"/>
                </a:solidFill>
              </a:rPr>
              <a:t>Amounts and states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1AB1E-8148-44DC-9084-F6FC23BC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577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67057-7606-4707-85F7-9924D18D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1529"/>
                </a:solidFill>
              </a:defRPr>
            </a:pPr>
            <a:r>
              <a:rPr sz="1350" b="0">
                <a:solidFill>
                  <a:srgbClr val="121529"/>
                </a:solidFill>
              </a:rPr>
              <a:t>Source freshness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01A40-36C2-4348-B31C-10334822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19300"/>
            <a:ext cx="3181350" cy="3333750"/>
          </a:xfrm>
          <a:prstGeom xmlns:a="http://schemas.openxmlformats.org/drawingml/2006/main" prst="roundRect">
            <a:avLst>
              <a:gd name="adj" fmla="val 7186"/>
            </a:avLst>
          </a:prstGeom>
          <a:solidFill xmlns:a="http://schemas.openxmlformats.org/drawingml/2006/main">
            <a:srgbClr val="FFF2D3"/>
          </a:solidFill>
          <a:ln xmlns:a="http://schemas.openxmlformats.org/drawingml/2006/main" w="9525">
            <a:solidFill>
              <a:srgbClr val="B865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B073F-F24F-4052-9030-9F483F1C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6500"/>
                </a:solidFill>
              </a:defRPr>
            </a:pPr>
            <a:r>
              <a:rPr sz="1800" b="1">
                <a:solidFill>
                  <a:srgbClr val="B86500"/>
                </a:solidFill>
              </a:rPr>
              <a:t>Citizen or authority decides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ADC7D-9116-45C5-8F85-3B7DC42E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623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8FF86-70BA-4C2B-9D3F-3F979138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1529"/>
                </a:solidFill>
              </a:defRPr>
            </a:pPr>
            <a:r>
              <a:rPr sz="1350" b="0">
                <a:solidFill>
                  <a:srgbClr val="121529"/>
                </a:solidFill>
              </a:rPr>
              <a:t>OTP and CAPTCHA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E5D9F-E8F2-474A-B452-B05A064D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100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BF35B2-4C23-4C6B-B26E-D4DF8984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1529"/>
                </a:solidFill>
              </a:defRPr>
            </a:pPr>
            <a:r>
              <a:rPr sz="1350" b="0">
                <a:solidFill>
                  <a:srgbClr val="121529"/>
                </a:solidFill>
              </a:rPr>
              <a:t>Payment and declaration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6A3158-A568-4088-BA8F-7578C36F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CE4AC1-0452-4AB2-ADBA-5AC6DFAA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1529"/>
                </a:solidFill>
              </a:defRPr>
            </a:pPr>
            <a:r>
              <a:rPr sz="1350" b="0">
                <a:solidFill>
                  <a:srgbClr val="121529"/>
                </a:solidFill>
              </a:rPr>
              <a:t>Official completion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52F729-1CAC-4FCE-B551-C80FB682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8800C5-15AA-4F30-BEE5-125E70BE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PARIVAHAN SARATHI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B7DEA7-B1CF-45A0-BE31-0BE0F34F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983351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F81187-8898-4B00-9F90-0E27F760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00"/>
                </a:solidFill>
              </a:defRPr>
            </a:pPr>
            <a:r>
              <a:rPr sz="1050" b="1">
                <a:solidFill>
                  <a:srgbClr val="FF6B00"/>
                </a:solidFill>
              </a:rPr>
              <a:t>HOW IT CAN SCALE SAFELY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42360-6D21-4D48-8BF0-46973FF0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28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529"/>
                </a:solidFill>
              </a:defRPr>
            </a:pPr>
            <a:r>
              <a:rPr sz="3000" b="1">
                <a:solidFill>
                  <a:srgbClr val="121529"/>
                </a:solidFill>
              </a:rPr>
              <a:t>A production system adds consent, approved integrations and reconciliation.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85C0C-D85C-4BF0-82FF-748874CE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00"/>
                </a:solidFill>
              </a:defRPr>
            </a:pPr>
            <a:r>
              <a:rPr sz="2250" b="1">
                <a:solidFill>
                  <a:srgbClr val="FF6B00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51550-F610-482A-9742-9FF19836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1529"/>
                </a:solidFill>
              </a:defRPr>
            </a:pPr>
            <a:r>
              <a:rPr sz="1650" b="1">
                <a:solidFill>
                  <a:srgbClr val="121529"/>
                </a:solidFill>
              </a:rPr>
              <a:t>Citizen consent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56E01-8ACE-432A-9084-4A91A1A9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E83"/>
                </a:solidFill>
              </a:defRPr>
            </a:pPr>
            <a:r>
              <a:rPr sz="1200" b="0">
                <a:solidFill>
                  <a:srgbClr val="686E83"/>
                </a:solidFill>
              </a:rPr>
              <a:t>Purpose + revocation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B5CD4-D702-4356-BD31-C7E1E0EF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33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DE0EA"/>
                </a:solidFill>
              </a:defRPr>
            </a:pPr>
            <a:r>
              <a:rPr sz="2100" b="1">
                <a:solidFill>
                  <a:srgbClr val="DDE0E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5D087-43D6-4C2F-A710-31F713CB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95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00"/>
                </a:solidFill>
              </a:defRPr>
            </a:pPr>
            <a:r>
              <a:rPr sz="2250" b="1">
                <a:solidFill>
                  <a:srgbClr val="FF6B00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4D231-FE02-42EE-A30F-1EFBC1DB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194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1529"/>
                </a:solidFill>
              </a:defRPr>
            </a:pPr>
            <a:r>
              <a:rPr sz="1650" b="1">
                <a:solidFill>
                  <a:srgbClr val="121529"/>
                </a:solidFill>
              </a:rPr>
              <a:t>Approved gateway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23A63-F4EE-49AF-B0DE-A67BE394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4330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E83"/>
                </a:solidFill>
              </a:defRPr>
            </a:pPr>
            <a:r>
              <a:rPr sz="1200" b="0">
                <a:solidFill>
                  <a:srgbClr val="686E83"/>
                </a:solidFill>
              </a:rPr>
              <a:t>Least privilege + 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C0769-5F36-46A5-A638-745F0E92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33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DE0EA"/>
                </a:solidFill>
              </a:defRPr>
            </a:pPr>
            <a:r>
              <a:rPr sz="2100" b="1">
                <a:solidFill>
                  <a:srgbClr val="DDE0E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FD7DF-6D62-498C-8A19-E20BB30C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00"/>
                </a:solidFill>
              </a:defRPr>
            </a:pPr>
            <a:r>
              <a:rPr sz="2250" b="1">
                <a:solidFill>
                  <a:srgbClr val="FF6B00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596B3-A212-4C77-88BE-97638F12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194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1529"/>
                </a:solidFill>
              </a:defRPr>
            </a:pPr>
            <a:r>
              <a:rPr sz="1650" b="1">
                <a:solidFill>
                  <a:srgbClr val="121529"/>
                </a:solidFill>
              </a:rPr>
              <a:t>Rules + grounded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64DCE-A011-4F2E-AEA2-03F65DF9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4330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E83"/>
                </a:solidFill>
              </a:defRPr>
            </a:pPr>
            <a:r>
              <a:rPr sz="1200" b="0">
                <a:solidFill>
                  <a:srgbClr val="686E83"/>
                </a:solidFill>
              </a:rPr>
              <a:t>Versioned official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59941-E674-40F7-A9E3-065E0154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DE0EA"/>
                </a:solidFill>
              </a:defRPr>
            </a:pPr>
            <a:r>
              <a:rPr sz="2100" b="1">
                <a:solidFill>
                  <a:srgbClr val="DDE0E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9E06D-E58D-48B6-B785-6EEF4DFB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95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00"/>
                </a:solidFill>
              </a:defRPr>
            </a:pPr>
            <a:r>
              <a:rPr sz="2250" b="1">
                <a:solidFill>
                  <a:srgbClr val="FF6B00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0D4DC-2ABB-4078-957A-D774B3CE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1529"/>
                </a:solidFill>
              </a:defRPr>
            </a:pPr>
            <a:r>
              <a:rPr sz="1650" b="1">
                <a:solidFill>
                  <a:srgbClr val="121529"/>
                </a:solidFill>
              </a:rPr>
              <a:t>Official handoff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0087C-2B3F-4EE7-AEFF-FC3C6254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4330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E83"/>
                </a:solidFill>
              </a:defRPr>
            </a:pPr>
            <a:r>
              <a:rPr sz="1200" b="0">
                <a:solidFill>
                  <a:srgbClr val="686E83"/>
                </a:solidFill>
              </a:rPr>
              <a:t>Citizen confirms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C81C6-811A-4918-B379-80815BC0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DE0EA"/>
                </a:solidFill>
              </a:defRPr>
            </a:pPr>
            <a:r>
              <a:rPr sz="2100" b="1">
                <a:solidFill>
                  <a:srgbClr val="DDE0E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A7E53-65FA-4170-BDC7-E3A4D420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845B"/>
                </a:solidFill>
              </a:defRPr>
            </a:pPr>
            <a:r>
              <a:rPr sz="2250" b="1">
                <a:solidFill>
                  <a:srgbClr val="11845B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36036-6FD8-4201-B163-9BE2B97F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194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1529"/>
                </a:solidFill>
              </a:defRPr>
            </a:pPr>
            <a:r>
              <a:rPr sz="1650" b="1">
                <a:solidFill>
                  <a:srgbClr val="121529"/>
                </a:solidFill>
              </a:rPr>
              <a:t>Reconciled 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54588-068F-4486-AFA9-C88BE2B6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4330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E83"/>
                </a:solidFill>
              </a:defRPr>
            </a:pPr>
            <a:r>
              <a:rPr sz="1200" b="0">
                <a:solidFill>
                  <a:srgbClr val="686E83"/>
                </a:solidFill>
              </a:rPr>
              <a:t>Receipt before ‘complete’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B8E2E-D5BD-4A1C-BFFF-0CBE6937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8966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174F"/>
          </a:solidFill>
          <a:ln xmlns:a="http://schemas.openxmlformats.org/drawingml/2006/main" w="0">
            <a:solidFill>
              <a:srgbClr val="1017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87222-4C2F-413C-B6BC-22BCC74A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024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Prototype today: no backend · no live model · no government API · no real payment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4118C-E4A6-4124-B6F2-CC18FB61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34750-36A9-421E-AD33-B50659E4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PARIVAHAN SARATHI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AC338-CBE9-4D80-88D7-6A3E4B8E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73641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B1B94-88F6-4D0C-9A76-7B4312B3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00"/>
                </a:solidFill>
              </a:defRPr>
            </a:pPr>
            <a:r>
              <a:rPr sz="1050" b="1">
                <a:solidFill>
                  <a:srgbClr val="FF6B00"/>
                </a:solidFill>
              </a:rPr>
              <a:t>BUILT, TESTED AND DOCUMENTED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36D5B-344F-44AE-A17B-8F48D167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529"/>
                </a:solidFill>
              </a:defRPr>
            </a:pPr>
            <a:r>
              <a:rPr sz="3000" b="1">
                <a:solidFill>
                  <a:srgbClr val="121529"/>
                </a:solidFill>
              </a:rPr>
              <a:t>This is a working prototype—not a concept render.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6C4C4-5135-479D-8D0D-DC26A94C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00"/>
                </a:solidFill>
              </a:defRPr>
            </a:pPr>
            <a:r>
              <a:rPr sz="4050" b="1">
                <a:solidFill>
                  <a:srgbClr val="FF6B00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9509E-5C84-4AE7-B58E-9DE1E0E4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E83"/>
                </a:solidFill>
              </a:defRPr>
            </a:pPr>
            <a:r>
              <a:rPr sz="1350" b="0">
                <a:solidFill>
                  <a:srgbClr val="686E83"/>
                </a:solidFill>
              </a:rPr>
              <a:t>service catalogue entries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78998-FE7E-484D-8CA0-D4F495E0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526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A237E"/>
                </a:solidFill>
              </a:defRPr>
            </a:pPr>
            <a:r>
              <a:rPr sz="4050" b="1">
                <a:solidFill>
                  <a:srgbClr val="1A237E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9E173-973D-41A5-9A01-B08F91E9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E83"/>
                </a:solidFill>
              </a:defRPr>
            </a:pPr>
            <a:r>
              <a:rPr sz="1350" b="0">
                <a:solidFill>
                  <a:srgbClr val="686E83"/>
                </a:solidFill>
              </a:rPr>
              <a:t>architecture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A1DCF-9298-49AA-AC01-B3AF3723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845B"/>
                </a:solidFill>
              </a:defRPr>
            </a:pPr>
            <a:r>
              <a:rPr sz="4050" b="1">
                <a:solidFill>
                  <a:srgbClr val="11845B"/>
                </a:solidFill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008A2-B7ED-4FE6-B74B-7F6E76AE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E83"/>
                </a:solidFill>
              </a:defRPr>
            </a:pPr>
            <a:r>
              <a:rPr sz="1350" b="0">
                <a:solidFill>
                  <a:srgbClr val="686E83"/>
                </a:solidFill>
              </a:rPr>
              <a:t>responsible-AI acceptance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321BA-208A-4DA4-B18C-223CAAE5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00"/>
                </a:solidFill>
              </a:defRPr>
            </a:pPr>
            <a:r>
              <a:rPr sz="4050" b="1">
                <a:solidFill>
                  <a:srgbClr val="FF6B00"/>
                </a:solidFill>
              </a:rPr>
              <a:t>137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9B061-46BB-4646-9638-9AF2CF2A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E83"/>
                </a:solidFill>
              </a:defRPr>
            </a:pPr>
            <a:r>
              <a:rPr sz="1350" b="0">
                <a:solidFill>
                  <a:srgbClr val="686E83"/>
                </a:solidFill>
              </a:rPr>
              <a:t>unique interface IDs checked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8738C-7ADD-4773-AB38-14F736C3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73E2F-8422-4E9C-9F9A-7213903A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1529"/>
                </a:solidFill>
              </a:defRPr>
            </a:pPr>
            <a:r>
              <a:rPr sz="1725" b="1">
                <a:solidFill>
                  <a:srgbClr val="121529"/>
                </a:solidFill>
              </a:rPr>
              <a:t>Desktop + mobile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D6E78-CCB3-4B20-8EC6-EF3785E5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E83"/>
                </a:solidFill>
              </a:defRPr>
            </a:pPr>
            <a:r>
              <a:rPr sz="1200" b="0">
                <a:solidFill>
                  <a:srgbClr val="686E83"/>
                </a:solidFill>
              </a:rPr>
              <a:t>Regression-tested at 1440 × 900 and 390 × 844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DEACD-6536-4694-B7E9-54ADF66A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48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1529"/>
                </a:solidFill>
              </a:defRPr>
            </a:pPr>
            <a:r>
              <a:rPr sz="1725" b="1">
                <a:solidFill>
                  <a:srgbClr val="121529"/>
                </a:solidFill>
              </a:rPr>
              <a:t>English + Hindi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6BA5D-3B37-4D1E-ACC4-24D3FAB4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2440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E83"/>
                </a:solidFill>
              </a:defRPr>
            </a:pPr>
            <a:r>
              <a:rPr sz="1200" b="0">
                <a:solidFill>
                  <a:srgbClr val="686E83"/>
                </a:solidFill>
              </a:rPr>
              <a:t>Interface switching demonstrated end to 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B42DA-B60A-473D-93A1-8F51414F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1529"/>
                </a:solidFill>
              </a:defRPr>
            </a:pPr>
            <a:r>
              <a:rPr sz="1725" b="1">
                <a:solidFill>
                  <a:srgbClr val="121529"/>
                </a:solidFill>
              </a:rPr>
              <a:t>Safe mock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41597-61F1-435B-8843-58FA1CDE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2440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6E83"/>
                </a:solidFill>
              </a:defRPr>
            </a:pPr>
            <a:r>
              <a:rPr sz="1200" b="0">
                <a:solidFill>
                  <a:srgbClr val="686E83"/>
                </a:solidFill>
              </a:rPr>
              <a:t>No real citizen data, payment or official mutation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844DA-67F2-441E-B421-226804F0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A1F4A-8031-4604-95B4-3D831279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PARIVAHAN SARATHI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F306E-1485-4948-9BD5-BAFDD2D0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6E83"/>
                </a:solidFill>
              </a:defRPr>
            </a:pPr>
            <a:r>
              <a:rPr sz="750" b="1">
                <a:solidFill>
                  <a:srgbClr val="686E8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918864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7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1AA7C-CDD4-4625-8E6D-F5DF86FA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27A"/>
                </a:solidFill>
              </a:defRPr>
            </a:pPr>
            <a:r>
              <a:rPr sz="1050" b="1">
                <a:solidFill>
                  <a:srgbClr val="FFB27A"/>
                </a:solidFill>
              </a:rPr>
              <a:t>THE NEXT MOVE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8F8D2-EF8E-4DFA-9E7B-F3B4656E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914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Shortlist the layer that helps citizens finish the journey.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81736-C576-47D2-BF75-AE47582F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BFF"/>
                </a:solidFill>
              </a:defRPr>
            </a:pPr>
            <a:r>
              <a:rPr sz="1650" b="0">
                <a:solidFill>
                  <a:srgbClr val="D8DBFF"/>
                </a:solidFill>
              </a:rPr>
              <a:t>A focused pilot can turn the strongest assumptions into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AA6DA-F154-4728-A2D3-868158F5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27A"/>
                </a:solidFill>
              </a:defRPr>
            </a:pPr>
            <a:r>
              <a:rPr sz="2550" b="1">
                <a:solidFill>
                  <a:srgbClr val="FFB27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B14DF-3821-44C5-8AD5-7735649C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5AD83-F870-4D29-876F-9D940A05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BFF"/>
                </a:solidFill>
              </a:defRPr>
            </a:pPr>
            <a:r>
              <a:rPr sz="1350" b="0">
                <a:solidFill>
                  <a:srgbClr val="D8DBFF"/>
                </a:solidFill>
              </a:rPr>
              <a:t>Five moderated mobile tests</a:t>
            </a:r>
          </a:p>
          <a:p xmlns:a="http://schemas.openxmlformats.org/drawingml/2006/main">
            <a:pPr algn="l">
              <a:defRPr sz="1350" b="0">
                <a:solidFill>
                  <a:srgbClr val="D8DBFF"/>
                </a:solidFill>
              </a:defRPr>
            </a:pPr>
            <a:r>
              <a:rPr sz="1350" b="0">
                <a:solidFill>
                  <a:srgbClr val="D8DBFF"/>
                </a:solidFill>
              </a:rPr>
              <a:t>with novice citizens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94F28-4030-4AA9-8E9A-764A6193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05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27A"/>
                </a:solidFill>
              </a:defRPr>
            </a:pPr>
            <a:r>
              <a:rPr sz="2550" b="1">
                <a:solidFill>
                  <a:srgbClr val="FFB27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30285-67BA-4894-B7F3-10FB86A7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Partner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9D78E-5E07-4843-814F-413A9C30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05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BFF"/>
                </a:solidFill>
              </a:defRPr>
            </a:pPr>
            <a:r>
              <a:rPr sz="1350" b="0">
                <a:solidFill>
                  <a:srgbClr val="D8DBFF"/>
                </a:solidFill>
              </a:rPr>
              <a:t>One state · one service</a:t>
            </a:r>
          </a:p>
          <a:p xmlns:a="http://schemas.openxmlformats.org/drawingml/2006/main">
            <a:pPr algn="l">
              <a:defRPr sz="1350" b="0">
                <a:solidFill>
                  <a:srgbClr val="D8DBFF"/>
                </a:solidFill>
              </a:defRPr>
            </a:pPr>
            <a:r>
              <a:rPr sz="1350" b="0">
                <a:solidFill>
                  <a:srgbClr val="D8DBFF"/>
                </a:solidFill>
              </a:rPr>
              <a:t>approved sandbox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39074-8958-48C1-9D16-FBBD77A9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051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27A"/>
                </a:solidFill>
              </a:defRPr>
            </a:pPr>
            <a:r>
              <a:rPr sz="2550" b="1">
                <a:solidFill>
                  <a:srgbClr val="FFB27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365A2-AC71-4263-A1AF-22B9DEE9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C336F-B4F0-4004-85EC-1B404B13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BFF"/>
                </a:solidFill>
              </a:defRPr>
            </a:pPr>
            <a:r>
              <a:rPr sz="1350" b="0">
                <a:solidFill>
                  <a:srgbClr val="D8DBFF"/>
                </a:solidFill>
              </a:rPr>
              <a:t>Time to correct action</a:t>
            </a:r>
          </a:p>
          <a:p xmlns:a="http://schemas.openxmlformats.org/drawingml/2006/main">
            <a:pPr algn="l">
              <a:defRPr sz="1350" b="0">
                <a:solidFill>
                  <a:srgbClr val="D8DBFF"/>
                </a:solidFill>
              </a:defRPr>
            </a:pPr>
            <a:r>
              <a:rPr sz="1350" b="0">
                <a:solidFill>
                  <a:srgbClr val="D8DBFF"/>
                </a:solidFill>
              </a:rPr>
              <a:t>completion · trust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1B000-8710-4AC4-99C6-60AD86F3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08966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6B00"/>
          </a:solidFill>
          <a:ln xmlns:a="http://schemas.openxmlformats.org/drawingml/2006/main" w="0">
            <a:solidFill>
              <a:srgbClr val="FF6B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E4E4B-0650-45E6-B936-7A346759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paarivaahan.vercel.app  ·  github.com/RJsankar/Paarivaahan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3D920-15A1-4988-BFD8-016A575A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AE8AD-E6CC-472D-98D4-1990CE8B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>
                    <a:alpha val="66667"/>
                  </a:srgbClr>
                </a:solidFill>
              </a:defRPr>
            </a:pPr>
            <a:r>
              <a:rPr sz="750" b="1">
                <a:solidFill>
                  <a:srgbClr val="FFFFFF">
                    <a:alpha val="66667"/>
                  </a:srgbClr>
                </a:solidFill>
              </a:rPr>
              <a:t>PARIVAHAN SARATHI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7BBC1-9404-405A-8568-99569D12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>
                    <a:alpha val="66667"/>
                  </a:srgbClr>
                </a:solidFill>
              </a:defRPr>
            </a:pPr>
            <a:r>
              <a:rPr sz="750" b="1">
                <a:solidFill>
                  <a:srgbClr val="FFFFFF">
                    <a:alpha val="66667"/>
                  </a:srgbClr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37612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2026-08-29T08:10:56.4180000Z</dcterms:created>
  <dcterms:modified xsi:type="dcterms:W3CDTF">2026-08-29T08:10:56.4180000Z</dcterms:modified>
</coreProperties>
</file>